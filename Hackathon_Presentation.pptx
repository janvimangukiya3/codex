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6" r:id="rId5"/>
    <p:sldId id="267" r:id="rId6"/>
    <p:sldId id="268" r:id="rId7"/>
    <p:sldId id="260" r:id="rId8"/>
    <p:sldId id="261" r:id="rId9"/>
    <p:sldId id="269" r:id="rId10"/>
    <p:sldId id="270" r:id="rId11"/>
    <p:sldId id="262" r:id="rId12"/>
    <p:sldId id="264" r:id="rId13"/>
    <p:sldId id="265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378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Food Delivery Time Predictor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304309"/>
            <a:ext cx="6400800" cy="1752600"/>
          </a:xfrm>
        </p:spPr>
        <p:txBody>
          <a:bodyPr/>
          <a:lstStyle/>
          <a:p>
            <a:r>
              <a:rPr dirty="0"/>
              <a:t>AI-Powered Logistics Solution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 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2400" b="1" dirty="0"/>
              <a:t>1</a:t>
            </a:r>
            <a:r>
              <a:rPr lang="en-US" sz="2400" dirty="0"/>
              <a:t>. </a:t>
            </a:r>
            <a:r>
              <a:rPr lang="en-US" sz="2400" b="1" dirty="0"/>
              <a:t>Customer Frustration ("Where is my food?")</a:t>
            </a:r>
          </a:p>
          <a:p>
            <a:pPr marL="895350" indent="0"/>
            <a:r>
              <a:rPr lang="en-US" sz="2400" b="1" dirty="0"/>
              <a:t>Vague Estimates: </a:t>
            </a:r>
            <a:r>
              <a:rPr lang="en-US" sz="2400" dirty="0"/>
              <a:t>Standard apps provide broad time windows   						(e.g., "30-50 mins") rather than precise ETAs.</a:t>
            </a:r>
          </a:p>
          <a:p>
            <a:pPr marL="895350" indent="0"/>
            <a:r>
              <a:rPr lang="en-US" sz="2400" b="1" dirty="0"/>
              <a:t>Anxiety &amp; Churn: </a:t>
            </a:r>
            <a:r>
              <a:rPr lang="en-US" sz="2400" dirty="0"/>
              <a:t>Lack of transparency leads to anxious customers 					and cancelled orders.</a:t>
            </a:r>
          </a:p>
          <a:p>
            <a:pPr marL="0" indent="0">
              <a:buNone/>
            </a:pPr>
            <a:r>
              <a:rPr lang="en-US" sz="2400" b="1" dirty="0"/>
              <a:t>2.  Operational Inefficiency</a:t>
            </a:r>
          </a:p>
          <a:p>
            <a:pPr marL="989013" indent="0"/>
            <a:r>
              <a:rPr lang="en-US" sz="2400" b="1" dirty="0"/>
              <a:t>Blind Logistics: </a:t>
            </a:r>
            <a:r>
              <a:rPr lang="en-US" sz="2400" dirty="0"/>
              <a:t>Restaurants and delivery partners operate 						reactively without predictive data.</a:t>
            </a:r>
          </a:p>
          <a:p>
            <a:pPr marL="989013" indent="0"/>
            <a:r>
              <a:rPr lang="en-US" sz="2400" b="1" dirty="0"/>
              <a:t>Resource Waste: </a:t>
            </a:r>
            <a:r>
              <a:rPr lang="en-US" sz="2400" dirty="0"/>
              <a:t>Inefficient routing and staffing during peak hours 				   burns fuel and time.</a:t>
            </a:r>
          </a:p>
          <a:p>
            <a:pPr marL="0" indent="0">
              <a:buNone/>
            </a:pPr>
            <a:r>
              <a:rPr lang="en-US" sz="2400" b="1" dirty="0"/>
              <a:t>3. Static Models in a Dynamic World</a:t>
            </a:r>
          </a:p>
          <a:p>
            <a:pPr marL="989013" indent="0"/>
            <a:r>
              <a:rPr lang="en-US" sz="2400" b="1" dirty="0"/>
              <a:t>One-Size-Fits-All: </a:t>
            </a:r>
            <a:r>
              <a:rPr lang="en-US" sz="2400" dirty="0"/>
              <a:t>Current algorithms often ignore critical real-time              	                           variables like traffic, weather, and vehicle type.</a:t>
            </a:r>
          </a:p>
          <a:p>
            <a:pPr marL="989013" indent="0"/>
            <a:r>
              <a:rPr lang="en-US" sz="2400" b="1" dirty="0"/>
              <a:t>Result: </a:t>
            </a:r>
            <a:r>
              <a:rPr lang="en-US" sz="2400" dirty="0"/>
              <a:t>Delivery promises that fail when reality hits.</a:t>
            </a:r>
            <a:endParaRPr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u="sng" dirty="0"/>
              <a:t>The Solution: Intelligent Delivery Prediction &amp; Analytics</a:t>
            </a:r>
            <a:br>
              <a:rPr lang="en-IN" u="sng" dirty="0"/>
            </a:br>
            <a:endParaRPr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373255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b="1" dirty="0"/>
              <a:t>1.  Precision Engine (The Brain)</a:t>
            </a:r>
          </a:p>
          <a:p>
            <a:pPr indent="17463"/>
            <a:r>
              <a:rPr lang="en-IN" b="1" dirty="0"/>
              <a:t>Problem Solved: </a:t>
            </a:r>
            <a:r>
              <a:rPr lang="en-IN" dirty="0"/>
              <a:t>Vague time windows -&gt; Precise ETAs</a:t>
            </a:r>
          </a:p>
          <a:p>
            <a:pPr indent="17463"/>
            <a:r>
              <a:rPr lang="en-IN" b="1" dirty="0"/>
              <a:t>Core Technology: </a:t>
            </a:r>
            <a:r>
              <a:rPr lang="en-IN" dirty="0"/>
              <a:t>Random Forest Regressor trained on 45,273 real-world records.</a:t>
            </a:r>
          </a:p>
          <a:p>
            <a:pPr indent="17463"/>
            <a:r>
              <a:rPr lang="en-IN" b="1" dirty="0"/>
              <a:t>Key Inputs: </a:t>
            </a:r>
            <a:r>
              <a:rPr lang="en-IN" dirty="0"/>
              <a:t>Dynamic analysis of Distance, Ratings, Driver Age, Vehicle Type, &amp; Traffic.</a:t>
            </a:r>
          </a:p>
          <a:p>
            <a:pPr indent="17463"/>
            <a:r>
              <a:rPr lang="en-IN" b="1" dirty="0"/>
              <a:t>Result: </a:t>
            </a:r>
            <a:r>
              <a:rPr lang="en-IN" dirty="0"/>
              <a:t>~5.67 minutes MAE (Mean Absolute Error), significantly outperforming standard estimates.</a:t>
            </a:r>
          </a:p>
          <a:p>
            <a:pPr marL="0" indent="0">
              <a:buNone/>
            </a:pPr>
            <a:r>
              <a:rPr lang="en-IN" b="1" dirty="0"/>
              <a:t>2.  Operational Clarity (The Eyes)</a:t>
            </a:r>
          </a:p>
          <a:p>
            <a:pPr indent="100013"/>
            <a:r>
              <a:rPr lang="en-IN" b="1" dirty="0"/>
              <a:t>Problem Solved</a:t>
            </a:r>
            <a:r>
              <a:rPr lang="en-IN" dirty="0"/>
              <a:t>: Blind logistics -&gt; Data-Driven Decisions</a:t>
            </a:r>
          </a:p>
          <a:p>
            <a:pPr indent="100013"/>
            <a:r>
              <a:rPr lang="en-IN" b="1" dirty="0"/>
              <a:t>Interactive Dashboard: </a:t>
            </a:r>
            <a:r>
              <a:rPr lang="en-IN" dirty="0"/>
              <a:t>6+ Real-Time Visualizations (Heatmaps, Distributions, Trends).</a:t>
            </a:r>
          </a:p>
          <a:p>
            <a:pPr indent="100013"/>
            <a:r>
              <a:rPr lang="en-IN" b="1" dirty="0"/>
              <a:t>Actionable Insights: </a:t>
            </a:r>
            <a:r>
              <a:rPr lang="en-IN" dirty="0"/>
              <a:t>Identify bottlenecks like specific vehicle inefficiencies or peak-hour delays instantly.</a:t>
            </a:r>
          </a:p>
          <a:p>
            <a:pPr marL="0" indent="0">
              <a:buNone/>
            </a:pPr>
            <a:r>
              <a:rPr lang="en-IN" b="1" dirty="0"/>
              <a:t>3. Seamless Accessibility (The Interface)</a:t>
            </a:r>
          </a:p>
          <a:p>
            <a:pPr indent="17463"/>
            <a:r>
              <a:rPr lang="en-IN" b="1" dirty="0"/>
              <a:t>Problem Solved: </a:t>
            </a:r>
            <a:r>
              <a:rPr lang="en-IN" dirty="0"/>
              <a:t>Static tools -&gt; Anytime, Anywhere Access</a:t>
            </a:r>
          </a:p>
          <a:p>
            <a:pPr indent="17463"/>
            <a:r>
              <a:rPr lang="en-IN" b="1" dirty="0"/>
              <a:t>Universal Design:</a:t>
            </a:r>
            <a:r>
              <a:rPr lang="en-IN" dirty="0"/>
              <a:t> Fully responsive web app optimized for Mobile, Tablet, and Desktop.</a:t>
            </a:r>
          </a:p>
          <a:p>
            <a:pPr indent="17463"/>
            <a:r>
              <a:rPr lang="en-IN" b="1" dirty="0"/>
              <a:t>Zero Friction: </a:t>
            </a:r>
            <a:r>
              <a:rPr lang="en-IN" dirty="0"/>
              <a:t>&lt;100ms prediction latency for instant decision-making in the field.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535F713-A460-4A4A-A327-565A47F7F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92" y="-221674"/>
            <a:ext cx="8321962" cy="7573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504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FCD1D-D5A1-4073-A9FD-645690BFD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Data Cleaning Workflow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43E58-E10C-4704-A0DD-6B9F340A0B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6928"/>
            <a:ext cx="8229600" cy="5179290"/>
          </a:xfrm>
        </p:spPr>
        <p:txBody>
          <a:bodyPr>
            <a:noAutofit/>
          </a:bodyPr>
          <a:lstStyle/>
          <a:p>
            <a:r>
              <a:rPr lang="en-US" sz="1800" b="1" dirty="0"/>
              <a:t>Data Cleaning for Delivery Time Prediction</a:t>
            </a:r>
          </a:p>
          <a:p>
            <a:r>
              <a:rPr lang="en-US" sz="1800" dirty="0"/>
              <a:t>To improve prediction accuracy, the dataset was cleaned and validated before model training.</a:t>
            </a:r>
          </a:p>
          <a:p>
            <a:r>
              <a:rPr lang="en-US" sz="1800" b="1" dirty="0"/>
              <a:t>Key Cleaning Steps:</a:t>
            </a:r>
            <a:endParaRPr lang="en-US" sz="1800" dirty="0"/>
          </a:p>
          <a:p>
            <a:pPr marL="628650" indent="-285750">
              <a:buFont typeface="Courier New" panose="02070309020205020404" pitchFamily="49" charset="0"/>
              <a:buChar char="o"/>
            </a:pPr>
            <a:r>
              <a:rPr lang="en-US" sz="1800" b="1" dirty="0"/>
              <a:t>Duplicate Removal:</a:t>
            </a:r>
            <a:br>
              <a:rPr lang="en-US" sz="1800" dirty="0"/>
            </a:br>
            <a:r>
              <a:rPr lang="en-US" sz="1800" dirty="0"/>
              <a:t>Removed repeated delivery records to avoid model bias.</a:t>
            </a:r>
          </a:p>
          <a:p>
            <a:pPr marL="628650" indent="-285750">
              <a:buFont typeface="Courier New" panose="02070309020205020404" pitchFamily="49" charset="0"/>
              <a:buChar char="o"/>
            </a:pPr>
            <a:r>
              <a:rPr lang="en-US" sz="1800" b="1" dirty="0"/>
              <a:t>Invalid Value Handling:</a:t>
            </a:r>
            <a:br>
              <a:rPr lang="en-US" sz="1800" dirty="0"/>
            </a:br>
            <a:r>
              <a:rPr lang="en-US" sz="1800" dirty="0"/>
              <a:t>Filtered unrealistic delivery partner ages (&lt;18 years).</a:t>
            </a:r>
            <a:br>
              <a:rPr lang="en-US" sz="1800" dirty="0"/>
            </a:br>
            <a:r>
              <a:rPr lang="en-US" sz="1800" dirty="0"/>
              <a:t>Ensured ratings were within the valid range (1–5).</a:t>
            </a:r>
          </a:p>
          <a:p>
            <a:pPr marL="628650" indent="-285750">
              <a:buFont typeface="Courier New" panose="02070309020205020404" pitchFamily="49" charset="0"/>
              <a:buChar char="o"/>
            </a:pPr>
            <a:r>
              <a:rPr lang="en-US" sz="1800" b="1" dirty="0"/>
              <a:t>Target Validation:</a:t>
            </a:r>
            <a:br>
              <a:rPr lang="en-US" sz="1800" dirty="0"/>
            </a:br>
            <a:r>
              <a:rPr lang="en-US" sz="1800" dirty="0"/>
              <a:t>Checked delivery time values to remove incorrect or extreme entries.</a:t>
            </a:r>
          </a:p>
          <a:p>
            <a:pPr marL="628650" indent="-285750">
              <a:buFont typeface="Courier New" panose="02070309020205020404" pitchFamily="49" charset="0"/>
              <a:buChar char="o"/>
            </a:pPr>
            <a:r>
              <a:rPr lang="en-US" sz="1800" b="1" dirty="0"/>
              <a:t>Categorical Text Cleaning:</a:t>
            </a:r>
            <a:br>
              <a:rPr lang="en-US" sz="1800" dirty="0"/>
            </a:br>
            <a:r>
              <a:rPr lang="en-US" sz="1800" dirty="0"/>
              <a:t>Trimmed extra spaces in order and vehicle type categories to prevent incorrect grouping.</a:t>
            </a:r>
          </a:p>
          <a:p>
            <a:pPr marL="628650" indent="-285750">
              <a:buFont typeface="Courier New" panose="02070309020205020404" pitchFamily="49" charset="0"/>
              <a:buChar char="o"/>
            </a:pPr>
            <a:r>
              <a:rPr lang="en-US" sz="1800" b="1" dirty="0"/>
              <a:t>Outcome:</a:t>
            </a:r>
            <a:br>
              <a:rPr lang="en-US" sz="1800" dirty="0"/>
            </a:br>
            <a:r>
              <a:rPr lang="en-US" sz="1800" dirty="0"/>
              <a:t>A reliable, consistent dataset suitable for machine learning regression models.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132314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FCD1D-D5A1-4073-A9FD-645690BFD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Data Cleaning Workflow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43E58-E10C-4704-A0DD-6B9F340A0B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6928"/>
            <a:ext cx="8229600" cy="5179290"/>
          </a:xfrm>
        </p:spPr>
        <p:txBody>
          <a:bodyPr>
            <a:noAutofit/>
          </a:bodyPr>
          <a:lstStyle/>
          <a:p>
            <a:r>
              <a:rPr lang="en-US" sz="1600" b="1" dirty="0"/>
              <a:t>Preprocessing &amp; Feature Engineering</a:t>
            </a:r>
          </a:p>
          <a:p>
            <a:r>
              <a:rPr lang="en-US" sz="1600" dirty="0"/>
              <a:t>After cleaning, preprocessing was applied to make the dataset model-ready.</a:t>
            </a:r>
          </a:p>
          <a:p>
            <a:r>
              <a:rPr lang="en-US" sz="1600" b="1" dirty="0"/>
              <a:t>Major Enhancements: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Distance Feature Creation:</a:t>
            </a:r>
            <a:br>
              <a:rPr lang="en-US" sz="1600" dirty="0"/>
            </a:br>
            <a:r>
              <a:rPr lang="en-US" sz="1600" dirty="0"/>
              <a:t>Restaurant and delivery latitude/longitude were transformed into a meaningful feature:</a:t>
            </a:r>
            <a:br>
              <a:rPr lang="en-US" sz="1600" dirty="0"/>
            </a:br>
            <a:r>
              <a:rPr lang="en-US" sz="1600" b="1" dirty="0" err="1"/>
              <a:t>Distance_km</a:t>
            </a:r>
            <a:r>
              <a:rPr lang="en-US" sz="1600" dirty="0"/>
              <a:t> using the Haversine formula.</a:t>
            </a:r>
            <a:br>
              <a:rPr lang="en-US" sz="1600" dirty="0"/>
            </a:br>
            <a:r>
              <a:rPr lang="en-US" sz="1600" dirty="0"/>
              <a:t>(Distance is one of the strongest factors affecting delivery time.)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Categorical Encoding (Digit Assignment):</a:t>
            </a:r>
            <a:br>
              <a:rPr lang="en-US" sz="1600" dirty="0"/>
            </a:br>
            <a:r>
              <a:rPr lang="en-US" sz="1600" dirty="0"/>
              <a:t>Since ML models cannot process text categories directly, categorical features were converted into numeric labels: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Vehicle Type:</a:t>
            </a:r>
            <a:r>
              <a:rPr lang="en-US" sz="1600" dirty="0"/>
              <a:t> Bicycle → 0, Electric Scooter → 1, Motorcycle → 2, Scooter → 3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Order Type:</a:t>
            </a:r>
            <a:r>
              <a:rPr lang="en-US" sz="1600" dirty="0"/>
              <a:t> Snack → 0, Meal → 1, Drinks → 2, Buffet → 3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Noise Reduction:</a:t>
            </a:r>
            <a:br>
              <a:rPr lang="en-US" sz="1600" dirty="0"/>
            </a:br>
            <a:r>
              <a:rPr lang="en-US" sz="1600" dirty="0"/>
              <a:t>Dropped unnecessary identifier columns that do not contribute to prediction.</a:t>
            </a:r>
          </a:p>
          <a:p>
            <a:r>
              <a:rPr lang="en-US" sz="1600" b="1" dirty="0"/>
              <a:t>Final Result:</a:t>
            </a:r>
            <a:br>
              <a:rPr lang="en-US" sz="1600" dirty="0"/>
            </a:br>
            <a:r>
              <a:rPr lang="en-US" sz="1600" dirty="0"/>
              <a:t>A clean and optimized dataset enabling accurate delivery time prediction using models like </a:t>
            </a:r>
            <a:r>
              <a:rPr lang="en-US" sz="1600" dirty="0" err="1"/>
              <a:t>XGBoost</a:t>
            </a:r>
            <a:r>
              <a:rPr lang="en-US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47389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indent="0">
              <a:buNone/>
            </a:pPr>
            <a:r>
              <a:rPr lang="en-IN" b="1" u="sng" dirty="0"/>
              <a:t>Technology Stack: Building for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dirty="0"/>
              <a:t>1. Frontend (User Interface)</a:t>
            </a:r>
          </a:p>
          <a:p>
            <a:pPr indent="17463"/>
            <a:r>
              <a:rPr lang="en-IN" dirty="0"/>
              <a:t>HTML5 &amp; CSS3: Custom responsive design with modern gradients and animations.</a:t>
            </a:r>
          </a:p>
          <a:p>
            <a:pPr indent="17463"/>
            <a:r>
              <a:rPr lang="en-IN" dirty="0"/>
              <a:t>JavaScript (Vanilla): Lightweight interactivity for forms and dynamic content.</a:t>
            </a:r>
          </a:p>
          <a:p>
            <a:pPr indent="17463"/>
            <a:r>
              <a:rPr lang="en-IN" dirty="0"/>
              <a:t>Font Awesome: Professional iconography system.</a:t>
            </a:r>
          </a:p>
          <a:p>
            <a:pPr marL="0" indent="0">
              <a:buNone/>
            </a:pPr>
            <a:r>
              <a:rPr lang="en-IN" b="1" dirty="0"/>
              <a:t>2. Backend (Server &amp; Logic)</a:t>
            </a:r>
          </a:p>
          <a:p>
            <a:pPr indent="17463"/>
            <a:r>
              <a:rPr lang="en-IN" dirty="0"/>
              <a:t>Python 3.x: Core programming language for robust logic.</a:t>
            </a:r>
          </a:p>
          <a:p>
            <a:pPr indent="17463"/>
            <a:r>
              <a:rPr lang="en-IN" dirty="0"/>
              <a:t>Flask: Lightweight web framework for handling API requests and routing.</a:t>
            </a:r>
          </a:p>
          <a:p>
            <a:pPr marL="0" indent="0">
              <a:buNone/>
            </a:pPr>
            <a:r>
              <a:rPr lang="en-IN" b="1" dirty="0"/>
              <a:t>3. Machine Learning (Intelligence)</a:t>
            </a:r>
          </a:p>
          <a:p>
            <a:pPr indent="17463"/>
            <a:r>
              <a:rPr lang="en-IN" dirty="0"/>
              <a:t>Scikit-Learn: Random Forest Regressor implementation for prediction.</a:t>
            </a:r>
          </a:p>
          <a:p>
            <a:pPr indent="17463"/>
            <a:r>
              <a:rPr lang="en-IN" dirty="0"/>
              <a:t>Pandas &amp; NumPy: High-performance data manipulation and cleaning.</a:t>
            </a:r>
          </a:p>
          <a:p>
            <a:pPr indent="17463"/>
            <a:r>
              <a:rPr lang="en-IN" dirty="0" err="1"/>
              <a:t>Joblib</a:t>
            </a:r>
            <a:r>
              <a:rPr lang="en-IN" dirty="0"/>
              <a:t>: Efficient model serialization for fast loading.</a:t>
            </a:r>
          </a:p>
          <a:p>
            <a:pPr marL="0" indent="0">
              <a:buNone/>
            </a:pPr>
            <a:r>
              <a:rPr lang="en-IN" b="1" dirty="0"/>
              <a:t>4. Visualization (Analytics)</a:t>
            </a:r>
          </a:p>
          <a:p>
            <a:pPr indent="17463"/>
            <a:r>
              <a:rPr lang="en-IN" dirty="0" err="1"/>
              <a:t>Plotly</a:t>
            </a:r>
            <a:r>
              <a:rPr lang="en-IN" dirty="0"/>
              <a:t>: Interactive, responsive charts for the analytics dashboard.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 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b="1" dirty="0"/>
              <a:t>The model accuracy (R² ≈ 40%) is low because the dataset contains only one independent variable: </a:t>
            </a:r>
            <a:r>
              <a:rPr lang="en-US" b="1" dirty="0" err="1"/>
              <a:t>Distance_km</a:t>
            </a:r>
            <a:r>
              <a:rPr lang="en-US" b="1" dirty="0"/>
              <a:t>.</a:t>
            </a:r>
          </a:p>
          <a:p>
            <a:endParaRPr lang="en-US" dirty="0"/>
          </a:p>
          <a:p>
            <a:r>
              <a:rPr lang="en-US" dirty="0"/>
              <a:t>In real-world scenarios, delivery time does not depend only on </a:t>
            </a:r>
            <a:r>
              <a:rPr lang="en-US" dirty="0" err="1"/>
              <a:t>distance,Delivery</a:t>
            </a:r>
            <a:r>
              <a:rPr lang="en-US" dirty="0"/>
              <a:t> time is influenced by many hidden factors such as:</a:t>
            </a:r>
          </a:p>
          <a:p>
            <a:pPr marL="3236913" indent="-457200"/>
            <a:endParaRPr lang="en-US" dirty="0"/>
          </a:p>
          <a:p>
            <a:pPr marL="3236913" indent="-457200"/>
            <a:r>
              <a:rPr lang="en-US" sz="3800" b="1" dirty="0"/>
              <a:t>Traffic conditions</a:t>
            </a:r>
          </a:p>
          <a:p>
            <a:pPr marL="3236913" indent="-457200"/>
            <a:endParaRPr lang="en-US" sz="3800" b="1" dirty="0"/>
          </a:p>
          <a:p>
            <a:pPr marL="3236913" indent="-457200"/>
            <a:r>
              <a:rPr lang="en-US" sz="3800" b="1" dirty="0"/>
              <a:t>Weather conditions</a:t>
            </a:r>
          </a:p>
          <a:p>
            <a:pPr marL="3236913" indent="-457200"/>
            <a:endParaRPr lang="en-US" sz="3800" b="1" dirty="0"/>
          </a:p>
          <a:p>
            <a:pPr marL="3236913" indent="-457200"/>
            <a:r>
              <a:rPr lang="en-US" sz="3800" b="1" dirty="0"/>
              <a:t>Road type</a:t>
            </a:r>
          </a:p>
          <a:p>
            <a:pPr marL="3236913" indent="-457200"/>
            <a:endParaRPr lang="en-US" sz="3800" b="1" dirty="0"/>
          </a:p>
          <a:p>
            <a:pPr marL="3236913" indent="-457200"/>
            <a:r>
              <a:rPr lang="en-US" sz="3800" b="1" dirty="0"/>
              <a:t>Delivery person speed</a:t>
            </a:r>
          </a:p>
          <a:p>
            <a:pPr marL="3236913" indent="-457200"/>
            <a:endParaRPr lang="en-US" sz="3800" b="1" dirty="0"/>
          </a:p>
          <a:p>
            <a:pPr marL="3236913" indent="-457200"/>
            <a:r>
              <a:rPr lang="en-US" sz="3800" b="1" dirty="0"/>
              <a:t>Restaurant preparation delay</a:t>
            </a:r>
          </a:p>
          <a:p>
            <a:pPr marL="3236913" indent="-457200"/>
            <a:endParaRPr lang="en-US" sz="3800" b="1" dirty="0"/>
          </a:p>
          <a:p>
            <a:pPr marL="3144838" indent="-457200"/>
            <a:r>
              <a:rPr lang="en-US" sz="3800" b="1" dirty="0"/>
              <a:t>Time of day (peak vs non-peak hours)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30162"/>
            <a:ext cx="8229600" cy="1143000"/>
          </a:xfrm>
        </p:spPr>
        <p:txBody>
          <a:bodyPr/>
          <a:lstStyle/>
          <a:p>
            <a:r>
              <a:rPr u="sng" dirty="0"/>
              <a:t> Model Performance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EECFAE-A8C0-46E5-B65B-8B7D97D95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37" y="1588654"/>
            <a:ext cx="6271490" cy="409171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15A5C6E-F138-4CF5-8CBB-88FC0E4E5838}"/>
              </a:ext>
            </a:extLst>
          </p:cNvPr>
          <p:cNvSpPr txBox="1"/>
          <p:nvPr/>
        </p:nvSpPr>
        <p:spPr>
          <a:xfrm>
            <a:off x="6481619" y="2207689"/>
            <a:ext cx="235758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The absence of these key variables limits the model’s ability to accurately explain and capture real-world variations in delivery time.</a:t>
            </a:r>
          </a:p>
        </p:txBody>
      </p:sp>
    </p:spTree>
    <p:extLst>
      <p:ext uri="{BB962C8B-B14F-4D97-AF65-F5344CB8AC3E}">
        <p14:creationId xmlns:p14="http://schemas.microsoft.com/office/powerpoint/2010/main" val="29423943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30162"/>
            <a:ext cx="8229600" cy="1143000"/>
          </a:xfrm>
        </p:spPr>
        <p:txBody>
          <a:bodyPr/>
          <a:lstStyle/>
          <a:p>
            <a:r>
              <a:rPr u="sng" dirty="0"/>
              <a:t> Model Performance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488BED-C2A0-403F-9585-24F89FC4E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46" y="1112838"/>
            <a:ext cx="3914451" cy="29279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BDFCEB-EC53-4312-9DC8-C88226D734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4670" y="939666"/>
            <a:ext cx="4201641" cy="32742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1BA379D-E2BB-4305-980C-5036DFC91F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7940" y="4034935"/>
            <a:ext cx="3444935" cy="2644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9035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 Analytics &amp;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Distance vs Time: Strong correlation.</a:t>
            </a:r>
          </a:p>
          <a:p>
            <a:pPr marL="0" indent="0">
              <a:buNone/>
            </a:pPr>
            <a:r>
              <a:rPr dirty="0"/>
              <a:t>• Ratings Impact: Better ratings = faster delivery.</a:t>
            </a:r>
          </a:p>
          <a:p>
            <a:pPr marL="0" indent="0">
              <a:buNone/>
            </a:pPr>
            <a:r>
              <a:rPr dirty="0"/>
              <a:t>• Age Factor: Experienced partners are consistent.</a:t>
            </a:r>
          </a:p>
          <a:p>
            <a:pPr marL="0" indent="0">
              <a:buNone/>
            </a:pPr>
            <a:r>
              <a:rPr dirty="0"/>
              <a:t>• Vehicle Type: Motorcycles faster in traffic.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indent="0">
              <a:buNone/>
            </a:pPr>
            <a:r>
              <a:rPr lang="en-IN" b="1" u="sng" dirty="0"/>
              <a:t> Future Roadmap: Scaling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1600" b="1" dirty="0"/>
              <a:t>1.  Real-Time Data Integration</a:t>
            </a:r>
          </a:p>
          <a:p>
            <a:pPr indent="17463"/>
            <a:r>
              <a:rPr lang="en-IN" sz="1600" dirty="0"/>
              <a:t>Live Traffic API: Integrate Google Maps/TomTom API to account for real-time congestion and road closures.</a:t>
            </a:r>
          </a:p>
          <a:p>
            <a:pPr indent="17463"/>
            <a:r>
              <a:rPr lang="en-IN" sz="1600" dirty="0"/>
              <a:t>Weather API: Factor in rain, snow, or heatwaves which significantly impact delivery speed.</a:t>
            </a:r>
          </a:p>
          <a:p>
            <a:pPr marL="0" indent="0">
              <a:buNone/>
            </a:pPr>
            <a:endParaRPr lang="en-IN" sz="1600" b="1" dirty="0"/>
          </a:p>
          <a:p>
            <a:pPr marL="0" indent="0">
              <a:buNone/>
            </a:pPr>
            <a:r>
              <a:rPr lang="en-IN" sz="1600" b="1" dirty="0"/>
              <a:t>2. Advanced AI/ML</a:t>
            </a:r>
          </a:p>
          <a:p>
            <a:pPr indent="17463"/>
            <a:r>
              <a:rPr lang="en-IN" sz="1600" dirty="0"/>
              <a:t>Deep Learning: transition to LSTM/Neural Networks for time-series forecasting.</a:t>
            </a:r>
          </a:p>
          <a:p>
            <a:pPr indent="17463"/>
            <a:r>
              <a:rPr lang="en-IN" sz="1600" dirty="0"/>
              <a:t>Driver Profiling: Personalized efficiency scores for each driver to optimize assignments.</a:t>
            </a:r>
          </a:p>
          <a:p>
            <a:pPr indent="17463"/>
            <a:r>
              <a:rPr lang="en-IN" sz="1600" dirty="0"/>
              <a:t>Demand Forecasting: Predict order surges before they happen to pre-position fleets.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r>
              <a:rPr lang="en-IN" sz="1600" b="1" dirty="0"/>
              <a:t>3. Ecosystem Expansion</a:t>
            </a:r>
          </a:p>
          <a:p>
            <a:pPr indent="17463"/>
            <a:r>
              <a:rPr lang="en-IN" sz="1600" dirty="0"/>
              <a:t>Mobile App: Native iOS/Android app for drivers with GPS tracking and push notifications.</a:t>
            </a:r>
          </a:p>
          <a:p>
            <a:pPr indent="17463"/>
            <a:r>
              <a:rPr lang="en-IN" sz="1600" dirty="0"/>
              <a:t>Customer App: Real-time order tracking map for end-users.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r>
              <a:rPr lang="en-IN" sz="1600" b="1" dirty="0"/>
              <a:t>4. Sustainability</a:t>
            </a:r>
          </a:p>
          <a:p>
            <a:pPr indent="17463"/>
            <a:r>
              <a:rPr lang="en-IN" sz="1600" dirty="0"/>
              <a:t>Green Routing: </a:t>
            </a:r>
            <a:r>
              <a:rPr lang="en-IN" sz="1600" dirty="0" err="1"/>
              <a:t>ALgorithms</a:t>
            </a:r>
            <a:r>
              <a:rPr lang="en-IN" sz="1600" dirty="0"/>
              <a:t> to prioritize fuel-efficient routes to reduce carbon footprint.</a:t>
            </a:r>
          </a:p>
          <a:p>
            <a:pPr indent="17463"/>
            <a:r>
              <a:rPr lang="en-IN" sz="1600" dirty="0"/>
              <a:t>EV Fleet Optimization: specialized management for electric vehicle range and charging.</a:t>
            </a:r>
            <a:endParaRPr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End-to-End Solution: Raw data to web app.</a:t>
            </a:r>
          </a:p>
          <a:p>
            <a:r>
              <a:rPr dirty="0"/>
              <a:t>User-Centric: Solves real-world problems.</a:t>
            </a:r>
          </a:p>
          <a:p>
            <a:r>
              <a:rPr dirty="0"/>
              <a:t>Scalable: Built on robust tech.</a:t>
            </a:r>
          </a:p>
          <a:p>
            <a:endParaRPr dirty="0"/>
          </a:p>
          <a:p>
            <a:pPr marL="0" indent="0" algn="ctr">
              <a:buNone/>
            </a:pPr>
            <a:r>
              <a:rPr sz="6000" dirty="0"/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1033</Words>
  <Application>Microsoft Office PowerPoint</Application>
  <PresentationFormat>On-screen Show (4:3)</PresentationFormat>
  <Paragraphs>106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Courier New</vt:lpstr>
      <vt:lpstr>Office Theme</vt:lpstr>
      <vt:lpstr>Food Delivery Time Predictor</vt:lpstr>
      <vt:lpstr> The Problem</vt:lpstr>
      <vt:lpstr>The Solution: Intelligent Delivery Prediction &amp; Analytics </vt:lpstr>
      <vt:lpstr>PowerPoint Presentation</vt:lpstr>
      <vt:lpstr>Data Cleaning Workflow </vt:lpstr>
      <vt:lpstr>Data Cleaning Workflow </vt:lpstr>
      <vt:lpstr>Technology Stack: Building for Performance</vt:lpstr>
      <vt:lpstr> Model Performance</vt:lpstr>
      <vt:lpstr> Model Performance</vt:lpstr>
      <vt:lpstr> Model Performance</vt:lpstr>
      <vt:lpstr> Analytics &amp; Insights</vt:lpstr>
      <vt:lpstr> Future Roadmap: Scaling Intelligence</vt:lpstr>
      <vt:lpstr>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 Delivery Time Predictor</dc:title>
  <dc:subject/>
  <dc:creator>vaidik</dc:creator>
  <cp:keywords/>
  <dc:description>generated using python-pptx</dc:description>
  <cp:lastModifiedBy>Vd 007</cp:lastModifiedBy>
  <cp:revision>3</cp:revision>
  <dcterms:created xsi:type="dcterms:W3CDTF">2013-01-27T09:14:16Z</dcterms:created>
  <dcterms:modified xsi:type="dcterms:W3CDTF">2026-02-13T08:26:39Z</dcterms:modified>
  <cp:category/>
</cp:coreProperties>
</file>